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2642-2C25-DCE2-B109-9E6289B19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AD8F3-A939-948F-B3FC-3AEE7FABC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09CF-0942-C091-CFFC-68224A41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F67A2-969F-C0C7-EB08-761CBBC7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B34FF-F074-3D6B-2E0D-F5F7A98B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566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E0C9-EE21-B897-27B3-DCFC8A7E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1975D-9235-9F29-E656-A140A3473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2001E-F9C6-F2C8-F7B4-EABC7E25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8D80-CEBF-6954-8A52-4B15E7A2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612D8-01BE-B234-FF8C-B0C3C100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092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7C4F-C05E-1C7D-3ECF-D3825517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808E7-32A8-AD3C-7ECF-7CA369F4D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61AF-B60C-F3E7-6D37-FA47165C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A91B8-73E8-8DD7-1BC3-ED5112CE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C095-F175-BE2D-D915-A522FCE6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591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0D40-B18E-1D8E-E47A-915956D6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C3594-266E-0A13-C362-3850F4C40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57DA3-5B62-43D4-B9BE-612D7D8A8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1B15A-DB72-7630-21D9-1E24EB54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B4CEF-638D-E9C1-6B33-75759BE92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5B368-FC1C-0393-C661-79DC5984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000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4597-FE34-58E6-65D7-4613D2A4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4DD74-CED2-CCB1-DC78-C617AD4A6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17E33-241C-9722-290A-8419B095F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4A6A2-0CCB-C27F-AA1A-41FA40593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17818-E3EE-B6A1-BA19-9B681866A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4311A-541F-8279-EC27-CB07AF44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6DC0E-939C-9A9A-7B17-FA20D4DE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489A0-EF56-9313-C068-DC6B3427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80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7113-18A3-045F-71AE-B6757DE1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552C0-0102-1BA6-BB7A-EFDFE09A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00919-577C-6361-160D-11C6624C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0E012-5705-2564-AEA7-CF7791E5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737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40F3B-C840-AD31-FFE0-5A3E507F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8B0A0-C6AA-9F8B-9A01-56011E0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6217-412D-DDCA-F424-CD38FC79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148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987B-2B68-3EA9-86BC-55F729F9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12FC-4418-7EFF-D03E-43335E7E0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29428-E37C-6CD4-C0A1-E9B619E62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ADA90-0DBA-5847-15E9-E558D84E2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A4D8E-3FE2-FB59-4369-91845B7D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532B1-312D-8B91-9211-A9B6CE1F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04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9FC6-7566-B313-6BAC-A73B0786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FBC4A-876E-7AD5-3482-096688003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E8E99-F065-D05F-5305-DBDC362DA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A7B07-138F-9374-C5AD-3A5EF024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92442-5D25-91C6-F1F4-FE150530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90C2B-8D96-6A9A-7F77-57F498DD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4714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CB38-60C6-FBAE-A6F9-DDE065FC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7C1A4-636D-9C4D-CA22-1619B3F93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A616E-B5B7-663A-2138-F7FADD5E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EDB6-E4FD-B07B-F289-2641ED5B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605A-3BE5-18EC-2953-BB2300AC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265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4CBFDC-CE8A-D99D-4156-1D2FB4DBA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73010-5E68-5584-F384-1A29D5F56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6FC4-D077-68F1-7BCF-210CD8CB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A482C-5CC8-939A-978B-BF068FE7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95E54-BCD0-77EC-DEDB-6C6C3609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101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69E75-855B-7C36-497B-E5DBFB604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10AB3-A9F8-F337-B4E1-B2608F57D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D5472-05C8-8813-4055-C263646B5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2A829-A5E1-4C74-A22A-01E872D85AA4}" type="datetimeFigureOut">
              <a:rPr lang="en-ZA" smtClean="0"/>
              <a:t>2025/07/15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21E22-5128-7C96-BCC5-79A4B1CFC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9D1E-B204-6B2F-2D2C-C1EA485B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5493C-C7E8-4F53-95BD-A42FE05AD16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8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predisi.d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usca.biocomp.unibo.it/deepsig/" TargetMode="External"/><Relationship Id="rId5" Type="http://schemas.openxmlformats.org/officeDocument/2006/relationships/hyperlink" Target="https://services.healthtech.dtu.dk/services/TargetP-2.0/" TargetMode="External"/><Relationship Id="rId4" Type="http://schemas.openxmlformats.org/officeDocument/2006/relationships/hyperlink" Target="https://services.healthtech.dtu.dk/services/SignalP-6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healthtech.dtu.dk/services/SignalP-6.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predisi.de/" TargetMode="External"/><Relationship Id="rId5" Type="http://schemas.openxmlformats.org/officeDocument/2006/relationships/hyperlink" Target="https://busca.biocomp.unibo.it/deepsig/" TargetMode="External"/><Relationship Id="rId4" Type="http://schemas.openxmlformats.org/officeDocument/2006/relationships/hyperlink" Target="https://services.healthtech.dtu.dk/services/TargetP-2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://www.predisi.de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usca.biocomp.unibo.it/deepsig/" TargetMode="External"/><Relationship Id="rId5" Type="http://schemas.openxmlformats.org/officeDocument/2006/relationships/hyperlink" Target="https://services.healthtech.dtu.dk/services/TargetP-2.0/" TargetMode="External"/><Relationship Id="rId4" Type="http://schemas.openxmlformats.org/officeDocument/2006/relationships/hyperlink" Target="https://services.healthtech.dtu.dk/services/SignalP-6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://www.predisi.d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usca.biocomp.unibo.it/deepsig/" TargetMode="External"/><Relationship Id="rId5" Type="http://schemas.openxmlformats.org/officeDocument/2006/relationships/hyperlink" Target="https://services.healthtech.dtu.dk/services/TargetP-2.0/" TargetMode="External"/><Relationship Id="rId4" Type="http://schemas.openxmlformats.org/officeDocument/2006/relationships/hyperlink" Target="https://services.healthtech.dtu.dk/services/SignalP-6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://www.predisi.de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usca.biocomp.unibo.it/deepsig/" TargetMode="External"/><Relationship Id="rId5" Type="http://schemas.openxmlformats.org/officeDocument/2006/relationships/hyperlink" Target="https://services.healthtech.dtu.dk/services/TargetP-2.0/" TargetMode="External"/><Relationship Id="rId4" Type="http://schemas.openxmlformats.org/officeDocument/2006/relationships/hyperlink" Target="https://services.healthtech.dtu.dk/services/SignalP-6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BCFC53-778D-6007-34B5-296B0DFF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49" y="1338827"/>
            <a:ext cx="5731423" cy="4180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E8ABB-39CD-6BC8-BCBB-9AB2560A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929" y="1338826"/>
            <a:ext cx="5896587" cy="4180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988C9B-8137-1D4D-054B-B362D26F8902}"/>
              </a:ext>
            </a:extLst>
          </p:cNvPr>
          <p:cNvSpPr txBox="1"/>
          <p:nvPr/>
        </p:nvSpPr>
        <p:spPr>
          <a:xfrm>
            <a:off x="123737" y="109057"/>
            <a:ext cx="1168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4"/>
              </a:rPr>
              <a:t>SignalP-6.0</a:t>
            </a:r>
            <a:r>
              <a:rPr lang="en-ZA" dirty="0"/>
              <a:t>: between pos. 21 and 22</a:t>
            </a:r>
          </a:p>
          <a:p>
            <a:r>
              <a:rPr lang="en-ZA" dirty="0">
                <a:hlinkClick r:id="rId5"/>
              </a:rPr>
              <a:t>TargetP-2.0</a:t>
            </a:r>
            <a:r>
              <a:rPr lang="en-ZA" dirty="0"/>
              <a:t>: cleavage site pos. 21-22</a:t>
            </a:r>
          </a:p>
          <a:p>
            <a:r>
              <a:rPr lang="en-ZA" dirty="0">
                <a:hlinkClick r:id="rId6"/>
              </a:rPr>
              <a:t>DeepSig</a:t>
            </a:r>
            <a:r>
              <a:rPr lang="en-ZA" dirty="0"/>
              <a:t>: signal peptide 1-21</a:t>
            </a:r>
            <a:br>
              <a:rPr lang="en-ZA" dirty="0"/>
            </a:br>
            <a:r>
              <a:rPr lang="en-ZA" dirty="0">
                <a:hlinkClick r:id="rId7"/>
              </a:rPr>
              <a:t>PrediSi</a:t>
            </a:r>
            <a:r>
              <a:rPr lang="en-ZA" dirty="0"/>
              <a:t>: [no result]</a:t>
            </a:r>
          </a:p>
        </p:txBody>
      </p:sp>
    </p:spTree>
    <p:extLst>
      <p:ext uri="{BB962C8B-B14F-4D97-AF65-F5344CB8AC3E}">
        <p14:creationId xmlns:p14="http://schemas.microsoft.com/office/powerpoint/2010/main" val="776847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B4474-980F-5E15-DA8F-B23D5EAB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488" y="1745012"/>
            <a:ext cx="6590168" cy="4743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8F336B-14D6-ED0A-4420-8FDC17E0EF50}"/>
              </a:ext>
            </a:extLst>
          </p:cNvPr>
          <p:cNvSpPr txBox="1"/>
          <p:nvPr/>
        </p:nvSpPr>
        <p:spPr>
          <a:xfrm>
            <a:off x="123737" y="109057"/>
            <a:ext cx="1168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3"/>
              </a:rPr>
              <a:t>SignalP-6.0</a:t>
            </a:r>
            <a:r>
              <a:rPr lang="en-ZA" dirty="0"/>
              <a:t>: no signal, other</a:t>
            </a:r>
          </a:p>
          <a:p>
            <a:r>
              <a:rPr lang="en-ZA" dirty="0">
                <a:hlinkClick r:id="rId4"/>
              </a:rPr>
              <a:t>TargetP-2.0</a:t>
            </a:r>
            <a:r>
              <a:rPr lang="en-ZA" dirty="0"/>
              <a:t>: no signal, other</a:t>
            </a:r>
          </a:p>
          <a:p>
            <a:r>
              <a:rPr lang="en-ZA" dirty="0">
                <a:hlinkClick r:id="rId5"/>
              </a:rPr>
              <a:t>DeepSig</a:t>
            </a:r>
            <a:r>
              <a:rPr lang="en-ZA" dirty="0"/>
              <a:t>: no signal peptide, likely localization somewhere within cytoplasm</a:t>
            </a:r>
            <a:br>
              <a:rPr lang="en-ZA" dirty="0"/>
            </a:br>
            <a:r>
              <a:rPr lang="en-ZA" dirty="0">
                <a:hlinkClick r:id="rId6"/>
              </a:rPr>
              <a:t>PrediSi</a:t>
            </a:r>
            <a:r>
              <a:rPr lang="en-ZA" dirty="0"/>
              <a:t>: no signal peptide, incorrect cleavage position at 37 (low score 0.2564)</a:t>
            </a:r>
          </a:p>
        </p:txBody>
      </p:sp>
    </p:spTree>
    <p:extLst>
      <p:ext uri="{BB962C8B-B14F-4D97-AF65-F5344CB8AC3E}">
        <p14:creationId xmlns:p14="http://schemas.microsoft.com/office/powerpoint/2010/main" val="82235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B6FF1-208E-21DB-4569-02D07D669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1" y="1874940"/>
            <a:ext cx="5889119" cy="4290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5D9DA6-86CB-5A7D-C529-96FFFCD6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78" y="1880789"/>
            <a:ext cx="5971122" cy="42851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245720-1D49-CF63-0D82-57C2A60AEF66}"/>
              </a:ext>
            </a:extLst>
          </p:cNvPr>
          <p:cNvSpPr txBox="1"/>
          <p:nvPr/>
        </p:nvSpPr>
        <p:spPr>
          <a:xfrm>
            <a:off x="123737" y="109057"/>
            <a:ext cx="116816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4"/>
              </a:rPr>
              <a:t>SignalP-6.0</a:t>
            </a:r>
            <a:r>
              <a:rPr lang="en-ZA" dirty="0"/>
              <a:t>: between pos. 24 and 25</a:t>
            </a:r>
          </a:p>
          <a:p>
            <a:r>
              <a:rPr lang="en-ZA" dirty="0">
                <a:hlinkClick r:id="rId5"/>
              </a:rPr>
              <a:t>TargetP-2.0</a:t>
            </a:r>
            <a:r>
              <a:rPr lang="en-ZA" dirty="0"/>
              <a:t>: cleavage site pos. 16-17</a:t>
            </a:r>
          </a:p>
          <a:p>
            <a:r>
              <a:rPr lang="en-ZA" dirty="0">
                <a:hlinkClick r:id="rId6"/>
              </a:rPr>
              <a:t>DeepSig</a:t>
            </a:r>
            <a:r>
              <a:rPr lang="en-ZA" dirty="0"/>
              <a:t>: no signal peptide, likely localization somewhere within cytoplasm</a:t>
            </a:r>
            <a:br>
              <a:rPr lang="en-ZA" dirty="0"/>
            </a:br>
            <a:r>
              <a:rPr lang="en-ZA" dirty="0">
                <a:hlinkClick r:id="rId7"/>
              </a:rPr>
              <a:t>PrediSi</a:t>
            </a:r>
            <a:r>
              <a:rPr lang="en-ZA" dirty="0"/>
              <a:t>: signal peptide, cleavage site pos. 21</a:t>
            </a:r>
          </a:p>
          <a:p>
            <a:endParaRPr lang="en-ZA" dirty="0"/>
          </a:p>
          <a:p>
            <a:r>
              <a:rPr lang="en-ZA" dirty="0"/>
              <a:t>Cleavage below done at SignalP-6.0 site</a:t>
            </a:r>
          </a:p>
        </p:txBody>
      </p:sp>
    </p:spTree>
    <p:extLst>
      <p:ext uri="{BB962C8B-B14F-4D97-AF65-F5344CB8AC3E}">
        <p14:creationId xmlns:p14="http://schemas.microsoft.com/office/powerpoint/2010/main" val="147148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6B559-5B54-F506-CFCF-74F5525D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5" y="1978707"/>
            <a:ext cx="5857589" cy="42026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03CFB-EE36-F749-078E-CE5BB36C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135" y="1978707"/>
            <a:ext cx="5857589" cy="4212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7DB49B-2B3D-D213-C258-90A12EB4ED83}"/>
              </a:ext>
            </a:extLst>
          </p:cNvPr>
          <p:cNvSpPr txBox="1"/>
          <p:nvPr/>
        </p:nvSpPr>
        <p:spPr>
          <a:xfrm>
            <a:off x="123737" y="109057"/>
            <a:ext cx="1168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4"/>
              </a:rPr>
              <a:t>SignalP-6.0</a:t>
            </a:r>
            <a:r>
              <a:rPr lang="en-ZA" dirty="0"/>
              <a:t>: between pos. 22 and 23</a:t>
            </a:r>
          </a:p>
          <a:p>
            <a:r>
              <a:rPr lang="en-ZA" dirty="0">
                <a:hlinkClick r:id="rId5"/>
              </a:rPr>
              <a:t>TargetP-2.0</a:t>
            </a:r>
            <a:r>
              <a:rPr lang="en-ZA" dirty="0"/>
              <a:t>: cleavage site pos. 22-23</a:t>
            </a:r>
          </a:p>
          <a:p>
            <a:r>
              <a:rPr lang="en-ZA" dirty="0">
                <a:hlinkClick r:id="rId6"/>
              </a:rPr>
              <a:t>DeepSig</a:t>
            </a:r>
            <a:r>
              <a:rPr lang="en-ZA" dirty="0"/>
              <a:t>: signal peptide 1-22</a:t>
            </a:r>
            <a:br>
              <a:rPr lang="en-ZA" dirty="0"/>
            </a:br>
            <a:r>
              <a:rPr lang="en-ZA" dirty="0">
                <a:hlinkClick r:id="rId7"/>
              </a:rPr>
              <a:t>PrediSi</a:t>
            </a:r>
            <a:r>
              <a:rPr lang="en-ZA" dirty="0"/>
              <a:t>: signal peptide, cleavage site pos. 22</a:t>
            </a:r>
          </a:p>
        </p:txBody>
      </p:sp>
    </p:spTree>
    <p:extLst>
      <p:ext uri="{BB962C8B-B14F-4D97-AF65-F5344CB8AC3E}">
        <p14:creationId xmlns:p14="http://schemas.microsoft.com/office/powerpoint/2010/main" val="377032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54471-1656-756B-A1EE-B790EEAF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22" y="2060660"/>
            <a:ext cx="5827378" cy="4176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4F630-65A0-C1BE-CBB8-3E7F5C136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04" y="2060660"/>
            <a:ext cx="5754645" cy="4176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CC8319-3BA9-7312-AEED-D434A9A73A9F}"/>
              </a:ext>
            </a:extLst>
          </p:cNvPr>
          <p:cNvSpPr txBox="1"/>
          <p:nvPr/>
        </p:nvSpPr>
        <p:spPr>
          <a:xfrm>
            <a:off x="123737" y="109057"/>
            <a:ext cx="11681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4"/>
              </a:rPr>
              <a:t>SignalP-6.0</a:t>
            </a:r>
            <a:r>
              <a:rPr lang="en-ZA" dirty="0"/>
              <a:t>: between pos. 21 and 22</a:t>
            </a:r>
          </a:p>
          <a:p>
            <a:r>
              <a:rPr lang="en-ZA" dirty="0">
                <a:hlinkClick r:id="rId5"/>
              </a:rPr>
              <a:t>TargetP-2.0</a:t>
            </a:r>
            <a:r>
              <a:rPr lang="en-ZA" dirty="0"/>
              <a:t>: cleavage site pos. 21-22</a:t>
            </a:r>
          </a:p>
          <a:p>
            <a:r>
              <a:rPr lang="en-ZA" dirty="0">
                <a:hlinkClick r:id="rId6"/>
              </a:rPr>
              <a:t>DeepSig</a:t>
            </a:r>
            <a:r>
              <a:rPr lang="en-ZA" dirty="0"/>
              <a:t>: signal peptide 1-21</a:t>
            </a:r>
            <a:br>
              <a:rPr lang="en-ZA" dirty="0"/>
            </a:br>
            <a:r>
              <a:rPr lang="en-ZA" dirty="0">
                <a:hlinkClick r:id="rId7"/>
              </a:rPr>
              <a:t>PrediSi</a:t>
            </a:r>
            <a:r>
              <a:rPr lang="en-ZA" dirty="0"/>
              <a:t>: signal peptide, cleavage site pos. 21</a:t>
            </a:r>
          </a:p>
        </p:txBody>
      </p:sp>
    </p:spTree>
    <p:extLst>
      <p:ext uri="{BB962C8B-B14F-4D97-AF65-F5344CB8AC3E}">
        <p14:creationId xmlns:p14="http://schemas.microsoft.com/office/powerpoint/2010/main" val="224647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172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Torppa, JE, Mnr [22042636@sun.ac.za]</dc:creator>
  <cp:lastModifiedBy>Torppa, JE, Mnr [22042636@sun.ac.za]</cp:lastModifiedBy>
  <cp:revision>2</cp:revision>
  <dcterms:created xsi:type="dcterms:W3CDTF">2025-07-15T07:32:42Z</dcterms:created>
  <dcterms:modified xsi:type="dcterms:W3CDTF">2025-07-15T08:05:15Z</dcterms:modified>
</cp:coreProperties>
</file>